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595360" y="731520"/>
            <a:ext cx="1828800" cy="18288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75520" y="1828800"/>
            <a:ext cx="1234440" cy="1234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138160" y="2743200"/>
            <a:ext cx="868680" cy="86868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54864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Aptos"/>
              </a:defRPr>
            </a:pPr>
            <a:r>
              <a:t>MACHINE LEARNING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7132320" cy="1325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  <a:latin typeface="Aptos"/>
              </a:defRPr>
            </a:pPr>
            <a:r>
              <a:t>Wine Type</a:t>
            </a:r>
            <a:br/>
            <a:r>
              <a:t>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063240"/>
            <a:ext cx="6858000" cy="640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900" b="0">
                <a:solidFill>
                  <a:srgbClr val="CBD5E1"/>
                </a:solidFill>
                <a:latin typeface="Aptos"/>
              </a:defRPr>
            </a:pPr>
            <a:r>
              <a:t>Red vs White using Regularized Logistic Regression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3913632"/>
            <a:ext cx="109728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4297680"/>
            <a:ext cx="6492240" cy="8229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Aptos"/>
              </a:defRPr>
            </a:pPr>
            <a:r>
              <a:t>Predicting wine type from 11 physicochemical measurements.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9136" y="5943600"/>
            <a:ext cx="6583680" cy="20621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Aptos"/>
              </a:defRPr>
            </a:pPr>
            <a:r>
              <a:t>Presented by: </a:t>
            </a:r>
            <a:r>
              <a:rPr lang="en-US"/>
              <a:t>ABHISHEK KUMAR  [2520030448] &amp; RAKESH MEDIKONDA</a:t>
            </a:r>
            <a:r>
              <a:t> </a:t>
            </a:r>
            <a:r>
              <a:rPr lang="en-US"/>
              <a:t> [2520030035]</a:t>
            </a: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0" y="4663440"/>
            <a:ext cx="3108960" cy="640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  <a:latin typeface="Aptos"/>
              </a:defRPr>
            </a:pPr>
            <a:r>
              <a:t>RED  •  WHITE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1078992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Aptos"/>
              </a:defRPr>
            </a:pPr>
            <a:r>
              <a:t>WINE TYPE CLASSIFICATION  •  REGULARIZED LOGISTIC REGRESSION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92240"/>
            <a:ext cx="32004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defRPr sz="900" b="1">
                <a:solidFill>
                  <a:srgbClr val="CBD5E1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18288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Aptos"/>
              </a:defRPr>
            </a:pPr>
            <a:r>
              <a:t>PROJECT  / 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Aptos"/>
              </a:defRPr>
            </a:pPr>
            <a:r>
              <a:t>Problem Statement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34440"/>
            <a:ext cx="109728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Aptos"/>
              </a:defRPr>
            </a:pPr>
            <a:r>
              <a:t>What the project aims to solve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64208"/>
            <a:ext cx="960120" cy="502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078992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Aptos"/>
              </a:defRPr>
            </a:pPr>
            <a:r>
              <a:t>WINE TYPE CLASSIFICATION  •  REGULARIZED LOGISTIC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92240"/>
            <a:ext cx="32004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defRPr sz="900" b="1">
                <a:solidFill>
                  <a:srgbClr val="CBD5E1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50292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700" b="1">
                <a:solidFill>
                  <a:srgbClr val="EF4444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78608"/>
            <a:ext cx="5029200" cy="1417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2100" b="0">
                <a:solidFill>
                  <a:srgbClr val="F8FAFC"/>
                </a:solidFill>
                <a:latin typeface="Aptos"/>
              </a:defRPr>
            </a:pPr>
            <a:r>
              <a:t>Use measured chemical properties of wine to classify each sample as Red Wine or White Wine.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011680"/>
            <a:ext cx="50292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700" b="1">
                <a:solidFill>
                  <a:srgbClr val="F59E0B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468880"/>
            <a:ext cx="5120640" cy="28346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 Inspect and prepare the wine dataset.</a:t>
            </a:r>
          </a:p>
          <a:p>
            <a:pPr>
              <a:spcAft>
                <a:spcPts val="10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 Scale features without data leakage.</a:t>
            </a:r>
          </a:p>
          <a:p>
            <a:pPr>
              <a:spcAft>
                <a:spcPts val="10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 Compare L1 and L2 regularization.</a:t>
            </a:r>
          </a:p>
          <a:p>
            <a:pPr>
              <a:spcAft>
                <a:spcPts val="10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 Select the model using validation performance.</a:t>
            </a:r>
          </a:p>
          <a:p>
            <a:pPr>
              <a:spcAft>
                <a:spcPts val="10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 Evaluate the model and deploy a prediction website.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257800"/>
            <a:ext cx="1600200" cy="502920"/>
          </a:xfrm>
          <a:prstGeom prst="roundRect">
            <a:avLst/>
          </a:prstGeom>
          <a:solidFill>
            <a:srgbClr val="1F2937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5376672"/>
            <a:ext cx="1600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Aptos"/>
              </a:defRPr>
            </a:pPr>
            <a:r>
              <a:t>CLASSIFY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06039" y="5257800"/>
            <a:ext cx="1600200" cy="502920"/>
          </a:xfrm>
          <a:prstGeom prst="roundRect">
            <a:avLst/>
          </a:prstGeom>
          <a:solidFill>
            <a:srgbClr val="1F2937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06039" y="5376672"/>
            <a:ext cx="1600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100" b="1">
                <a:solidFill>
                  <a:srgbClr val="60A5FA"/>
                </a:solidFill>
                <a:latin typeface="Aptos"/>
              </a:defRPr>
            </a:pPr>
            <a:r>
              <a:t>REGULARIZE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5257800"/>
            <a:ext cx="1600200" cy="502920"/>
          </a:xfrm>
          <a:prstGeom prst="roundRect">
            <a:avLst/>
          </a:prstGeom>
          <a:solidFill>
            <a:srgbClr val="1F2937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80559" y="5376672"/>
            <a:ext cx="1600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100" b="1">
                <a:solidFill>
                  <a:srgbClr val="34D399"/>
                </a:solidFill>
                <a:latin typeface="Aptos"/>
              </a:defRPr>
            </a:pPr>
            <a:r>
              <a:t>DEPLOY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18288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Aptos"/>
              </a:defRPr>
            </a:pPr>
            <a:r>
              <a:t>PROJECT  / 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Aptos"/>
              </a:defRPr>
            </a:pPr>
            <a:r>
              <a:t>Dataset &amp;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34440"/>
            <a:ext cx="109728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Aptos"/>
              </a:defRPr>
            </a:pPr>
            <a:r>
              <a:t>Inputs, target, and data preparation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64208"/>
            <a:ext cx="960120" cy="502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078992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Aptos"/>
              </a:defRPr>
            </a:pPr>
            <a:r>
              <a:t>WINE TYPE CLASSIFICATION  •  REGULARIZED LOGISTIC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92240"/>
            <a:ext cx="32004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defRPr sz="900" b="1">
                <a:solidFill>
                  <a:srgbClr val="CBD5E1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11680"/>
            <a:ext cx="3383280" cy="1234440"/>
          </a:xfrm>
          <a:prstGeom prst="roundRect">
            <a:avLst/>
          </a:prstGeom>
          <a:solidFill>
            <a:srgbClr val="1F2937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19" y="2148840"/>
            <a:ext cx="320040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2800" b="1">
                <a:solidFill>
                  <a:srgbClr val="EF4444"/>
                </a:solidFill>
                <a:latin typeface="Aptos"/>
              </a:defRPr>
            </a:pPr>
            <a:r>
              <a:t>6,497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2697480"/>
            <a:ext cx="32004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Aptos"/>
              </a:defRPr>
            </a:pPr>
            <a:r>
              <a:t>rows in dataset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011680"/>
            <a:ext cx="3383280" cy="1234440"/>
          </a:xfrm>
          <a:prstGeom prst="roundRect">
            <a:avLst/>
          </a:prstGeom>
          <a:solidFill>
            <a:srgbClr val="1F2937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59" y="2148840"/>
            <a:ext cx="320040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2800" b="1">
                <a:solidFill>
                  <a:srgbClr val="60A5FA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2697480"/>
            <a:ext cx="32004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Aptos"/>
              </a:defRPr>
            </a:pPr>
            <a:r>
              <a:t>input features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011680"/>
            <a:ext cx="3383280" cy="1234440"/>
          </a:xfrm>
          <a:prstGeom prst="roundRect">
            <a:avLst/>
          </a:prstGeom>
          <a:solidFill>
            <a:srgbClr val="1F2937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2148840"/>
            <a:ext cx="320040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2800" b="1">
                <a:solidFill>
                  <a:srgbClr val="34D399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697480"/>
            <a:ext cx="32004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Aptos"/>
              </a:defRPr>
            </a:pPr>
            <a:r>
              <a:t>classes: Red / White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657600"/>
            <a:ext cx="493776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700" b="1">
                <a:solidFill>
                  <a:srgbClr val="EF4444"/>
                </a:solidFill>
                <a:latin typeface="Aptos"/>
              </a:defRPr>
            </a:pPr>
            <a:r>
              <a:t>INPUT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069080"/>
            <a:ext cx="5029200" cy="11887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700" b="0">
                <a:solidFill>
                  <a:srgbClr val="F8FAFC"/>
                </a:solidFill>
                <a:latin typeface="Aptos"/>
              </a:defRPr>
            </a:pPr>
            <a:r>
              <a:t>Acidity, residual sugar, chlorides, sulfur dioxide, density, pH, sulphates and alcohol.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657600"/>
            <a:ext cx="50292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700" b="1">
                <a:solidFill>
                  <a:srgbClr val="F59E0B"/>
                </a:solidFill>
                <a:latin typeface="Aptos"/>
              </a:defRPr>
            </a:pPr>
            <a:r>
              <a:t>PREPROCESSING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023360"/>
            <a:ext cx="5120640" cy="1645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•  Encode red = 0 and white = 1.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•  Use stratified 70/15/15 train/validation/test split.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•  Fit StandardScaler on training data only.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•  Exclude quality from the main input features.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18288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Aptos"/>
              </a:defRPr>
            </a:pPr>
            <a:r>
              <a:t>PROJECT  / 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Aptos"/>
              </a:defRPr>
            </a:pPr>
            <a:r>
              <a:t>Model &amp; Regularization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34440"/>
            <a:ext cx="109728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Aptos"/>
              </a:defRPr>
            </a:pPr>
            <a:r>
              <a:t>How the classification system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64208"/>
            <a:ext cx="960120" cy="502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078992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Aptos"/>
              </a:defRPr>
            </a:pPr>
            <a:r>
              <a:t>WINE TYPE CLASSIFICATION  •  REGULARIZED LOGISTIC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92240"/>
            <a:ext cx="32004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defRPr sz="900" b="1">
                <a:solidFill>
                  <a:srgbClr val="CBD5E1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240280"/>
            <a:ext cx="1828800" cy="960120"/>
          </a:xfrm>
          <a:prstGeom prst="roundRect">
            <a:avLst/>
          </a:prstGeom>
          <a:solidFill>
            <a:srgbClr val="1F2937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441448"/>
            <a:ext cx="1645920" cy="5486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400" b="1">
                <a:solidFill>
                  <a:srgbClr val="60A5FA"/>
                </a:solidFill>
                <a:latin typeface="Aptos"/>
              </a:defRPr>
            </a:pPr>
            <a:r>
              <a:t>11 FEATURES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2240280"/>
            <a:ext cx="1828800" cy="960120"/>
          </a:xfrm>
          <a:prstGeom prst="roundRect">
            <a:avLst/>
          </a:prstGeom>
          <a:solidFill>
            <a:srgbClr val="1F293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6080" y="2441448"/>
            <a:ext cx="1645920" cy="5486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  <a:latin typeface="Aptos"/>
              </a:defRPr>
            </a:pPr>
            <a:r>
              <a:t>STANDARDIZE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2240280"/>
            <a:ext cx="1828800" cy="960120"/>
          </a:xfrm>
          <a:prstGeom prst="roundRect">
            <a:avLst/>
          </a:prstGeom>
          <a:solidFill>
            <a:srgbClr val="1F2937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66359" y="2441448"/>
            <a:ext cx="1645920" cy="5486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  <a:latin typeface="Aptos"/>
              </a:defRPr>
            </a:pPr>
            <a:r>
              <a:t>LOGISTIC</a:t>
            </a:r>
            <a:br/>
            <a:r>
              <a:t>REGRESSION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2240280"/>
            <a:ext cx="1828800" cy="960120"/>
          </a:xfrm>
          <a:prstGeom prst="roundRect">
            <a:avLst/>
          </a:prstGeom>
          <a:solidFill>
            <a:srgbClr val="1F2937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06640" y="2441448"/>
            <a:ext cx="1645920" cy="5486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400" b="1">
                <a:solidFill>
                  <a:srgbClr val="34D399"/>
                </a:solidFill>
                <a:latin typeface="Aptos"/>
              </a:defRPr>
            </a:pPr>
            <a:r>
              <a:t>RED / WHITE</a:t>
            </a:r>
            <a:br/>
            <a:r>
              <a:t>PREDICTION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87168" y="2514600"/>
            <a:ext cx="3200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2200" b="1">
                <a:solidFill>
                  <a:srgbClr val="F8FAF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2514600"/>
            <a:ext cx="3200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2200" b="1">
                <a:solidFill>
                  <a:srgbClr val="F8FAF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67728" y="2514600"/>
            <a:ext cx="3200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2200" b="1">
                <a:solidFill>
                  <a:srgbClr val="F8FAF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657600"/>
            <a:ext cx="50292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700" b="1">
                <a:solidFill>
                  <a:srgbClr val="EF4444"/>
                </a:solidFill>
                <a:latin typeface="Aptos"/>
              </a:defRPr>
            </a:pPr>
            <a:r>
              <a:t>L1 REGULARIZATION (LASSO)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069080"/>
            <a:ext cx="5029200" cy="9144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700" b="0">
                <a:solidFill>
                  <a:srgbClr val="F8FAFC"/>
                </a:solidFill>
                <a:latin typeface="Aptos"/>
              </a:defRPr>
            </a:pPr>
            <a:r>
              <a:t>Can shrink some coefficients exactly to zero, creating a sparse model.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657600"/>
            <a:ext cx="50292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700" b="1">
                <a:solidFill>
                  <a:srgbClr val="60A5FA"/>
                </a:solidFill>
                <a:latin typeface="Aptos"/>
              </a:defRPr>
            </a:pPr>
            <a:r>
              <a:t>L2 REGULARIZATION (RIDGE)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4069080"/>
            <a:ext cx="5029200" cy="9144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700" b="0">
                <a:solidFill>
                  <a:srgbClr val="F8FAFC"/>
                </a:solidFill>
                <a:latin typeface="Aptos"/>
              </a:defRPr>
            </a:pPr>
            <a:r>
              <a:t>Shrinks coefficients toward zero to help control model complexity.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440680"/>
            <a:ext cx="1078992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Aptos"/>
              </a:defRPr>
            </a:pPr>
            <a:r>
              <a:t>C parameter: smaller C = stronger regularization; larger C = weaker regularization.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18288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Aptos"/>
              </a:defRPr>
            </a:pPr>
            <a:r>
              <a:t>PROJECT  / 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Aptos"/>
              </a:defRPr>
            </a:pPr>
            <a:r>
              <a:t>Evaluation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34440"/>
            <a:ext cx="109728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Aptos"/>
              </a:defRPr>
            </a:pPr>
            <a:r>
              <a:t>Metrics used to assess the selected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64208"/>
            <a:ext cx="960120" cy="502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078992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Aptos"/>
              </a:defRPr>
            </a:pPr>
            <a:r>
              <a:t>WINE TYPE CLASSIFICATION  •  REGULARIZED LOGISTIC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92240"/>
            <a:ext cx="32004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defRPr sz="900" b="1">
                <a:solidFill>
                  <a:srgbClr val="CBD5E1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50292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700" b="1">
                <a:solidFill>
                  <a:srgbClr val="EF4444"/>
                </a:solidFill>
                <a:latin typeface="Aptos"/>
              </a:defRPr>
            </a:pPr>
            <a:r>
              <a:t>EVALUATION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5120640" cy="28346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 Tune C and select L1/L2 using validation accuracy.</a:t>
            </a:r>
          </a:p>
          <a:p>
            <a:pPr>
              <a:spcAft>
                <a:spcPts val="10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 Evaluate on the held-out test set.</a:t>
            </a:r>
          </a:p>
          <a:p>
            <a:pPr>
              <a:spcAft>
                <a:spcPts val="10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 Report accuracy, precision, recall and F1-score.</a:t>
            </a:r>
          </a:p>
          <a:p>
            <a:pPr>
              <a:spcAft>
                <a:spcPts val="10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 Use a confusion matrix to inspect errors.</a:t>
            </a:r>
          </a:p>
          <a:p>
            <a:pPr>
              <a:spcAft>
                <a:spcPts val="10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 Use ROC-AUC to assess probability ranking.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983480"/>
            <a:ext cx="45720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Aptos"/>
              </a:defRPr>
            </a:pPr>
            <a:r>
              <a:t>Fill these values after running your notebook.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715000"/>
            <a:ext cx="1078992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Aptos"/>
              </a:defRPr>
            </a:pPr>
            <a:r>
              <a:t>No performance numbers are invented; enter the results from your actual run.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18288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Aptos"/>
              </a:defRPr>
            </a:pPr>
            <a:r>
              <a:t>PROJECT  / 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Aptos"/>
              </a:defRPr>
            </a:pPr>
            <a:r>
              <a:t>Deployment, Conclusion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34440"/>
            <a:ext cx="109728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Aptos"/>
              </a:defRPr>
            </a:pPr>
            <a:r>
              <a:t>From notebook to a usable prediction 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64208"/>
            <a:ext cx="960120" cy="502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078992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Aptos"/>
              </a:defRPr>
            </a:pPr>
            <a:r>
              <a:t>WINE TYPE CLASSIFICATION  •  REGULARIZED LOGISTIC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92240"/>
            <a:ext cx="32004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defRPr sz="900" b="1">
                <a:solidFill>
                  <a:srgbClr val="CBD5E1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50292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700" b="1">
                <a:solidFill>
                  <a:srgbClr val="EF4444"/>
                </a:solidFill>
                <a:latin typeface="Aptos"/>
              </a:defRPr>
            </a:pPr>
            <a:r>
              <a:t>DEPLOYMENT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23160"/>
            <a:ext cx="5029200" cy="2468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•  Train and compare models in Google Colab.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•  Build the interface with Streamlit.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•  Store app.py, requirements.txt and dataset in GitHub.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•  Deploy using Streamlit Community Cloud.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•  Enter 11 measurements to predict Red or White.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011680"/>
            <a:ext cx="50292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700" b="1">
                <a:solidFill>
                  <a:srgbClr val="F59E0B"/>
                </a:solidFill>
                <a:latin typeface="Aptos"/>
              </a:defRPr>
            </a:pPr>
            <a:r>
              <a:t>CONCLUSION &amp; FUTURE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423160"/>
            <a:ext cx="5120640" cy="2468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•  Regularized Logistic Regression is used for binary classification.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•  L1 and L2 are compared using validation data.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•  Improve the interface and test on new samples.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•  Monitor performance on real-world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166360"/>
            <a:ext cx="10789920" cy="658368"/>
          </a:xfrm>
          <a:prstGeom prst="roundRect">
            <a:avLst/>
          </a:prstGeom>
          <a:solidFill>
            <a:srgbClr val="1F2937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5330952"/>
            <a:ext cx="1042416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2000" b="1">
                <a:solidFill>
                  <a:srgbClr val="34D399"/>
                </a:solidFill>
                <a:latin typeface="Aptos"/>
              </a:defRPr>
            </a:pPr>
            <a:r>
              <a:t>THANK YOU  •  QUESTIONS?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989320"/>
            <a:ext cx="106984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Aptos"/>
              </a:defRPr>
            </a:pPr>
            <a:r>
              <a:t>Live app: https://wine-type-classifier-pnxxuj5kc4esrstuzcvfia.streamlit.app/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527</Words>
  <Application>Microsoft Office PowerPoint</Application>
  <PresentationFormat>Widescreen</PresentationFormat>
  <Paragraphs>90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ABHI 💎</cp:lastModifiedBy>
  <cp:revision>3</cp:revision>
  <dcterms:created xsi:type="dcterms:W3CDTF">2013-01-27T09:14:16Z</dcterms:created>
  <dcterms:modified xsi:type="dcterms:W3CDTF">2026-10-14T05:58:54Z</dcterms:modified>
  <cp:category/>
</cp:coreProperties>
</file>